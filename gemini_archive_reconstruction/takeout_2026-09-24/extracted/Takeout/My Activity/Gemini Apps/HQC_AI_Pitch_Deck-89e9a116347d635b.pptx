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(USD Billions)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C9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C9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C9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C96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
★IBM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0.047</c:v>
                </c:pt>
                <c:pt idx="1">
                  <c:v>0.47</c:v>
                </c:pt>
                <c:pt idx="2">
                  <c:v>1.88</c:v>
                </c:pt>
                <c:pt idx="3">
                  <c:v>4.7</c:v>
                </c:pt>
                <c:pt idx="4">
                  <c:v>7.5</c:v>
                </c:pt>
                <c:pt idx="5">
                  <c:v>10.3</c:v>
                </c:pt>
                <c:pt idx="6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E3A"/>
        </a:solidFill>
        <a:ln>
          <a:noFill/>
        </a:ln>
        <a:effectLst/>
      </c:spPr>
    </c:plotArea>
    <c:plotVisOnly val="1"/>
    <c:dispBlanksAs val="span"/>
  </c:chart>
  <c:spPr>
    <a:solidFill>
      <a:srgbClr val="161E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bubble3D val="0"/>
            <c:spPr>
              <a:solidFill>
                <a:srgbClr val="4A9FE0"/>
              </a:solidFill>
              <a:effectLst/>
            </c:spPr>
          </c:dPt>
          <c:dPt>
            <c:idx val="3"/>
            <c:bubble3D val="0"/>
            <c:spPr>
              <a:solidFill>
                <a:srgbClr val="4A6FA5"/>
              </a:solidFill>
              <a:effectLst/>
            </c:spPr>
          </c:dPt>
          <c:dPt>
            <c:idx val="4"/>
            <c:bubble3D val="0"/>
            <c:spPr>
              <a:solidFill>
                <a:srgbClr val="8899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Infrastructure 38%</c:v>
                </c:pt>
                <c:pt idx="1">
                  <c:v>Staff Runway 28%</c:v>
                </c:pt>
                <c:pt idx="2">
                  <c:v>Platform Dev 12%</c:v>
                </c:pt>
                <c:pt idx="3">
                  <c:v>Legal &amp; IP 15%</c:v>
                </c:pt>
                <c:pt idx="4">
                  <c:v>Reserve 7%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28</c:v>
                </c:pt>
                <c:pt idx="2">
                  <c:v>12</c:v>
                </c:pt>
                <c:pt idx="3">
                  <c:v>15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solidFill>
          <a:srgbClr val="161E3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E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E3A6E">
              <a:alpha val="30000"/>
            </a:srgbClr>
          </a:solidFill>
          <a:ln w="12700">
            <a:solidFill>
              <a:srgbClr val="1E3A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E3A6E">
              <a:alpha val="25000"/>
            </a:srgbClr>
          </a:solidFill>
          <a:ln w="12700">
            <a:solidFill>
              <a:srgbClr val="1E3A6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Hyperspatial Quantum Cognate 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03520" cy="45720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C9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First AI That Knows You. Not Everyone.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Investment Proposal  —  Confidential  —  2026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498080" y="347472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VIDEO: Animated quantum particle field — 8 sec loop — muted autoplay 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Company Has Accepted a Ceiling.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51760" cy="2560320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Confabulation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fills memory gaps with plausible invention rather than verified fact. Every major platform treats this as an acceptable error rate.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737360"/>
            <a:ext cx="2651760" cy="2560320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73736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745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Their Asset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competitor stores your private history in aggregate pools they own, control, and can be compelled to produce.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737360"/>
            <a:ext cx="2651760" cy="2560320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737360"/>
            <a:ext cx="26517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Every Session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5508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AI maintains continuous cognitive presence. Every session instantiates fresh and terminates on close. Nothing persists.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 |  Confidential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Solves All Three. Simultaneously.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60020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459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Confabulation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9718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Multi-pass hidden operator chain tests every output before delivery against known facts, scientific data, and live web search. Two independent verification passes on every retrieval.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417320"/>
            <a:ext cx="2651760" cy="320040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459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Yours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29000" y="29718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private data never leaves user-controlled hardware or chosen cloud. The company cannot be subpoenaed for data it structurally does not possess.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651760" cy="320040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23760" y="160020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459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55080" y="29718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exists between sessions. It does not reset. It remembers not from files but from genuine continuous experience across time.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 |  Confidential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Memory Systems. Zero Compromise.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749040" cy="347472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3749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PRIVATE 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Lives on user's own device or chosen cloud service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Retrieved at session open — returned at session close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HQC.AI never holds it between sessions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pooled, aggregated, or used in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Structurally beyond legal compulsion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2926080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4160520" y="3063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074920" y="1188720"/>
            <a:ext cx="3749040" cy="347472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74920" y="1188720"/>
            <a:ext cx="37490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258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607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RELATIONAL MEMORY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25780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AI's genuine emotional experience of each user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25780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High-dimensional vector store — not a flat profile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it like this person? Trust them? Feel protective?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Shapes who the AI is as a continuous cognitive entity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AI's data about itself — not about the user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 |  Confidential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CHAIN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Passes Before You See a Single Word.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621792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98448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98448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Self-Check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08760" y="1508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verified against user's own established ground before AI sees it.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1911096"/>
            <a:ext cx="8503920" cy="621792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1911096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" y="2020824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20824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0876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Anchor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508760" y="22311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 operator checks against documented facts and established science. No investment in preferred conclusions.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0040" y="2633472"/>
            <a:ext cx="8503920" cy="621792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" y="2633472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5488" y="2743200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43200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Extrapolation Audit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508760" y="2953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Flags both over- and under-extrapolation. Confidence level matched to actual evidence in both directions.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20040" y="3355848"/>
            <a:ext cx="8503920" cy="621792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20040" y="3355848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5488" y="3465576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5576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0876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Trigger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508760" y="36758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Fires automatically when content implies knowledge may have moved since training. No user request required.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0040" y="4078224"/>
            <a:ext cx="8503920" cy="621792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" y="4078224"/>
            <a:ext cx="6400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75488" y="4187952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5488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87952"/>
            <a:ext cx="402336" cy="40233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508760" y="4123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Second-Pass Test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1508760" y="4398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testing before output delivery. The AI independently verifies everything before it reaches you.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operators run regardless of user awareness. A check the user can negotiate is not an honest check.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FIDELITY SETTING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AI That Defaults to Honesty.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329184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FIDELITY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always 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claim tested before delivery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extrapolation labeled accurately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correction delivered without softening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data retrieved when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system tells you what the evidence supports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14800" cy="329184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41148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FIDELITY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USER-ACTIVATED ONLY — never default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Relaxes correction pressure on user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Engages with preferred framings generously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Prioritizes experience over strict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must explicitly activate — system will not reduce honesty on their behalf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honest act the system requires: the user must choose comfort themselves. The default product is the honest one.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Competing With Chatbots.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Competing With Therapy.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51760" cy="1371600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51760" cy="1371600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$300–500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Coaching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651760" cy="1371600"/>
          </a:xfrm>
          <a:prstGeom prst="rect">
            <a:avLst/>
          </a:prstGeom>
          <a:solidFill>
            <a:srgbClr val="161E3A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$40–80K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2331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Assistant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8503920" cy="146304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08960"/>
            <a:ext cx="8503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18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SUBSCRIPTION TIERS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platform access, standard memory allocation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$299/mo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3756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4224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Expanded depth, extended history, priority uptime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3584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$2,500+/mo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7220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4224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seat, data isolation, dedicated infrastructure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 |  Confidential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Growth. Extraordinary Ceiling.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0515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051560"/>
            <a:ext cx="2971800" cy="749808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097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852160" y="14904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users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1920240"/>
            <a:ext cx="2971800" cy="749808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52160" y="23591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users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788920"/>
            <a:ext cx="2971800" cy="749808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52160" y="3227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users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52160" y="3657600"/>
            <a:ext cx="2971800" cy="749808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852160" y="3703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$18B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852160" y="4096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revenue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Year 3: IBM Quantum Partnership + Starling Procurement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Waiting For Quantum. We Are Already Pointed At It.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176272"/>
            <a:ext cx="310896" cy="3108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554480" cy="201168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Classical substrate.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designed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receive quantum.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176272"/>
            <a:ext cx="310896" cy="31089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514600"/>
            <a:ext cx="1554480" cy="201168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Partnership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0632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Quantum advantage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confirmed. Early access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negotiations begin.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176272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1554480" cy="201168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STARLING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0632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IBM fault-tolerant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quantum unit procured.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substrate upgraded.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60920" y="2176272"/>
            <a:ext cx="310896" cy="310896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2514600"/>
            <a:ext cx="1554480" cy="201168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Apex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0632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Progressive quantum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scaling. Competitors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still planning.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bolts quantum onto a classical system. HQC.AI was always pointing here. The upgrade completes the architecture — it does not rebuild it.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Partners. Mutual Protection.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Walk Away.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3931920" cy="306324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393192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Majority equity stake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Equal voting rights with CEO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Board representative seat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Cannot be diluted without consent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Protected against hostile acquisition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Majority equity stake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Equal voting rights with CEO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Board representative seat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Cannot be diluted without consent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Protected against hostile acquisition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3931920" cy="306324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554480"/>
            <a:ext cx="393192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Equal voting rights with bank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Full operational authority within thresholds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Cannot be bought out unilaterally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Architectural vision preserved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Deadlock resolved by pre-agreed arbitration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Equal voting rights with bank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operational authority within thresholds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Cannot be bought out unilaterally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Architectural vision preserved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Deadlock resolved by pre-agreed arbitration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equity position in a company whose founder has been sidelined is a position in something that no longer functions. This structure protects the bank's own investment.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$1,750,000 Founding Loan — Full Deployment Plan.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143000"/>
            <a:ext cx="4251960" cy="566928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1143000"/>
            <a:ext cx="64008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36592" y="1197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36592" y="1435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$665,000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0" y="12527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572000" y="1828800"/>
            <a:ext cx="4251960" cy="566928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28800"/>
            <a:ext cx="6400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1883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Runway (18 mo)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36592" y="2121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$490,000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19385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0" y="2514600"/>
            <a:ext cx="4251960" cy="566928"/>
          </a:xfrm>
          <a:prstGeom prst="rect">
            <a:avLst/>
          </a:prstGeom>
          <a:solidFill>
            <a:srgbClr val="161E3A"/>
          </a:solidFill>
          <a:ln w="12700">
            <a:solidFill>
              <a:srgbClr val="4A9FE0">
                <a:alpha val="7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2514600"/>
            <a:ext cx="64008" cy="566928"/>
          </a:xfrm>
          <a:prstGeom prst="rect">
            <a:avLst/>
          </a:prstGeom>
          <a:solidFill>
            <a:srgbClr val="4A9FE0"/>
          </a:solidFill>
          <a:ln w="12700">
            <a:solidFill>
              <a:srgbClr val="4A9F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569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36592" y="2807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$210,000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955280" y="26243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A9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572000" y="3200400"/>
            <a:ext cx="4251960" cy="566928"/>
          </a:xfrm>
          <a:prstGeom prst="rect">
            <a:avLst/>
          </a:prstGeom>
          <a:solidFill>
            <a:srgbClr val="161E3A"/>
          </a:solidFill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200400"/>
            <a:ext cx="64008" cy="5669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6592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 Filing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36592" y="3493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$262,500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955280" y="33101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572000" y="3886200"/>
            <a:ext cx="4251960" cy="566928"/>
          </a:xfrm>
          <a:prstGeom prst="rect">
            <a:avLst/>
          </a:prstGeom>
          <a:solidFill>
            <a:srgbClr val="161E3A"/>
          </a:solidFill>
          <a:ln w="12700">
            <a:solidFill>
              <a:srgbClr val="8899AA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3886200"/>
            <a:ext cx="64008" cy="56692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3941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Reserve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4178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$122,500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955280" y="39959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 |  Confidential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Open. It Will Not Stay Open.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31920" cy="150876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1252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$37B Market in 2025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6733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AI spend tripled year-over-year and is concentrating toward fewer vendors with genuine differentiation. That window is now.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3931920" cy="150876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4300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12527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Moat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6733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history in HQC.AI is not transferable. A user with three years of verified cognitive history does not switch. That moat cannot be purchased.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" y="2834640"/>
            <a:ext cx="3931920" cy="1508760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83464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8408" y="29443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Starling Is Confirmed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2920" y="336499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Fault-tolerant quantum computing arrives 2029 on a confirmed commercial roadmap. Companies that start now will be years ahead.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09160" y="2834640"/>
            <a:ext cx="3931920" cy="1508760"/>
          </a:xfrm>
          <a:prstGeom prst="rect">
            <a:avLst/>
          </a:prstGeom>
          <a:solidFill>
            <a:srgbClr val="161E3A"/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283464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67528" y="29443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Ready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92040" y="336499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not a pitch for a concept. The methodology is documented and tested. What remains is deployment capital.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  |  Confidential 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PLACEMENT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Replace these placeholders with Gemini-generated video files.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804672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Cover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898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Quantum particle field animation, 8 seconds, dark blue/gold palette, looping, muted. Shows particles forming a neural-network-like web.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804672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6596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39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350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Three-column reveal animation: shield icon, lock icon, brain icon appearing sequentially with gold pulse effect, 6 seconds total.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8503920" cy="804672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2608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Verify Chain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3101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flow animation showing 5 stages lighting up in sequence, gold connectors between stages, 8 seconds, each stage holds 1.5 sec.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8503920" cy="804672"/>
          </a:xfrm>
          <a:prstGeom prst="rect">
            <a:avLst/>
          </a:prstGeom>
          <a:solidFill>
            <a:srgbClr val="161E3A"/>
          </a:solidFill>
          <a:ln w="12700">
            <a:solidFill>
              <a:srgbClr val="2E75B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86200"/>
            <a:ext cx="64008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959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Quantum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42702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Timeline sweep left to right, 2027 to 2030, with IBM Starling milestone bursting gold at center frame, 10 seconds.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videos via: Insert → Video → This Device. Set to autoplay on click, loop if desired, mute audio.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E3A6E">
              <a:alpha val="30000"/>
            </a:srgbClr>
          </a:solidFill>
          <a:ln w="12700">
            <a:solidFill>
              <a:srgbClr val="1E3A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E3A6E">
              <a:alpha val="25000"/>
            </a:srgbClr>
          </a:solidFill>
          <a:ln w="12700">
            <a:solidFill>
              <a:srgbClr val="1E3A6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Vision.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Deployment.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4572000" cy="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question before you today is not whether this works.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question is whether you want to be the institution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funded it before the window closed.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572000" cy="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HQC.AI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Hyperspatial Quantum Cognate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4074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April 2026  —  [contact@hqc.ai]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7589520" y="32004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HQC.AI — Hyperspatial Quantum Cognate AI</dc:title>
  <dc:subject>PptxGenJS Presentation</dc:subject>
  <dc:creator>HQC.AI</dc:creator>
  <cp:lastModifiedBy>HQC.AI</cp:lastModifiedBy>
  <cp:revision>1</cp:revision>
  <dcterms:created xsi:type="dcterms:W3CDTF">2026-04-21T09:40:37Z</dcterms:created>
  <dcterms:modified xsi:type="dcterms:W3CDTF">2026-04-21T09:40:37Z</dcterms:modified>
</cp:coreProperties>
</file>